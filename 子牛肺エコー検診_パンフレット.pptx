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25" d="100"/>
          <a:sy n="125" d="100"/>
        </p:scale>
        <p:origin x="77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GEO OWAKI" userId="d15d2ed448b6268d" providerId="LiveId" clId="{EB88316F-46F5-424F-B146-01FEE61D7DD8}"/>
    <pc:docChg chg="undo custSel modSld">
      <pc:chgData name="SHIGEO OWAKI" userId="d15d2ed448b6268d" providerId="LiveId" clId="{EB88316F-46F5-424F-B146-01FEE61D7DD8}" dt="2026-03-16T12:46:15.650" v="80" actId="478"/>
      <pc:docMkLst>
        <pc:docMk/>
      </pc:docMkLst>
      <pc:sldChg chg="delSp modSp mod">
        <pc:chgData name="SHIGEO OWAKI" userId="d15d2ed448b6268d" providerId="LiveId" clId="{EB88316F-46F5-424F-B146-01FEE61D7DD8}" dt="2026-03-16T12:46:15.650" v="80" actId="478"/>
        <pc:sldMkLst>
          <pc:docMk/>
          <pc:sldMk cId="0" sldId="256"/>
        </pc:sldMkLst>
        <pc:spChg chg="del">
          <ac:chgData name="SHIGEO OWAKI" userId="d15d2ed448b6268d" providerId="LiveId" clId="{EB88316F-46F5-424F-B146-01FEE61D7DD8}" dt="2026-03-16T12:46:15.650" v="80" actId="478"/>
          <ac:spMkLst>
            <pc:docMk/>
            <pc:sldMk cId="0" sldId="256"/>
            <ac:spMk id="6" creationId="{00000000-0000-0000-0000-000000000000}"/>
          </ac:spMkLst>
        </pc:spChg>
        <pc:spChg chg="mod">
          <ac:chgData name="SHIGEO OWAKI" userId="d15d2ed448b6268d" providerId="LiveId" clId="{EB88316F-46F5-424F-B146-01FEE61D7DD8}" dt="2026-03-16T12:45:19.584" v="29" actId="14100"/>
          <ac:spMkLst>
            <pc:docMk/>
            <pc:sldMk cId="0" sldId="256"/>
            <ac:spMk id="57" creationId="{00000000-0000-0000-0000-000000000000}"/>
          </ac:spMkLst>
        </pc:spChg>
        <pc:spChg chg="mod">
          <ac:chgData name="SHIGEO OWAKI" userId="d15d2ed448b6268d" providerId="LiveId" clId="{EB88316F-46F5-424F-B146-01FEE61D7DD8}" dt="2026-03-16T12:45:13.287" v="28" actId="1035"/>
          <ac:spMkLst>
            <pc:docMk/>
            <pc:sldMk cId="0" sldId="256"/>
            <ac:spMk id="59" creationId="{00000000-0000-0000-0000-000000000000}"/>
          </ac:spMkLst>
        </pc:spChg>
        <pc:spChg chg="mod">
          <ac:chgData name="SHIGEO OWAKI" userId="d15d2ed448b6268d" providerId="LiveId" clId="{EB88316F-46F5-424F-B146-01FEE61D7DD8}" dt="2026-03-16T12:45:13.287" v="28" actId="1035"/>
          <ac:spMkLst>
            <pc:docMk/>
            <pc:sldMk cId="0" sldId="256"/>
            <ac:spMk id="60" creationId="{00000000-0000-0000-0000-000000000000}"/>
          </ac:spMkLst>
        </pc:spChg>
        <pc:spChg chg="mod">
          <ac:chgData name="SHIGEO OWAKI" userId="d15d2ed448b6268d" providerId="LiveId" clId="{EB88316F-46F5-424F-B146-01FEE61D7DD8}" dt="2026-03-16T12:45:13.287" v="28" actId="1035"/>
          <ac:spMkLst>
            <pc:docMk/>
            <pc:sldMk cId="0" sldId="256"/>
            <ac:spMk id="61" creationId="{00000000-0000-0000-0000-000000000000}"/>
          </ac:spMkLst>
        </pc:spChg>
        <pc:spChg chg="mod">
          <ac:chgData name="SHIGEO OWAKI" userId="d15d2ed448b6268d" providerId="LiveId" clId="{EB88316F-46F5-424F-B146-01FEE61D7DD8}" dt="2026-03-16T12:45:13.287" v="28" actId="1035"/>
          <ac:spMkLst>
            <pc:docMk/>
            <pc:sldMk cId="0" sldId="256"/>
            <ac:spMk id="62" creationId="{00000000-0000-0000-0000-000000000000}"/>
          </ac:spMkLst>
        </pc:spChg>
        <pc:spChg chg="mod">
          <ac:chgData name="SHIGEO OWAKI" userId="d15d2ed448b6268d" providerId="LiveId" clId="{EB88316F-46F5-424F-B146-01FEE61D7DD8}" dt="2026-03-16T12:45:13.287" v="28" actId="1035"/>
          <ac:spMkLst>
            <pc:docMk/>
            <pc:sldMk cId="0" sldId="256"/>
            <ac:spMk id="65" creationId="{00000000-0000-0000-0000-000000000000}"/>
          </ac:spMkLst>
        </pc:spChg>
        <pc:spChg chg="mod">
          <ac:chgData name="SHIGEO OWAKI" userId="d15d2ed448b6268d" providerId="LiveId" clId="{EB88316F-46F5-424F-B146-01FEE61D7DD8}" dt="2026-03-16T12:45:13.287" v="28" actId="1035"/>
          <ac:spMkLst>
            <pc:docMk/>
            <pc:sldMk cId="0" sldId="256"/>
            <ac:spMk id="66" creationId="{00000000-0000-0000-0000-000000000000}"/>
          </ac:spMkLst>
        </pc:spChg>
        <pc:spChg chg="mod">
          <ac:chgData name="SHIGEO OWAKI" userId="d15d2ed448b6268d" providerId="LiveId" clId="{EB88316F-46F5-424F-B146-01FEE61D7DD8}" dt="2026-03-16T12:45:13.287" v="28" actId="1035"/>
          <ac:spMkLst>
            <pc:docMk/>
            <pc:sldMk cId="0" sldId="256"/>
            <ac:spMk id="69" creationId="{00000000-0000-0000-0000-000000000000}"/>
          </ac:spMkLst>
        </pc:spChg>
        <pc:spChg chg="mod">
          <ac:chgData name="SHIGEO OWAKI" userId="d15d2ed448b6268d" providerId="LiveId" clId="{EB88316F-46F5-424F-B146-01FEE61D7DD8}" dt="2026-03-16T12:45:13.287" v="28" actId="1035"/>
          <ac:spMkLst>
            <pc:docMk/>
            <pc:sldMk cId="0" sldId="256"/>
            <ac:spMk id="71" creationId="{00000000-0000-0000-0000-000000000000}"/>
          </ac:spMkLst>
        </pc:spChg>
        <pc:spChg chg="mod">
          <ac:chgData name="SHIGEO OWAKI" userId="d15d2ed448b6268d" providerId="LiveId" clId="{EB88316F-46F5-424F-B146-01FEE61D7DD8}" dt="2026-03-16T12:45:13.287" v="28" actId="1035"/>
          <ac:spMkLst>
            <pc:docMk/>
            <pc:sldMk cId="0" sldId="256"/>
            <ac:spMk id="72" creationId="{00000000-0000-0000-0000-000000000000}"/>
          </ac:spMkLst>
        </pc:spChg>
        <pc:spChg chg="mod">
          <ac:chgData name="SHIGEO OWAKI" userId="d15d2ed448b6268d" providerId="LiveId" clId="{EB88316F-46F5-424F-B146-01FEE61D7DD8}" dt="2026-03-16T12:45:55.012" v="78" actId="1076"/>
          <ac:spMkLst>
            <pc:docMk/>
            <pc:sldMk cId="0" sldId="256"/>
            <ac:spMk id="73" creationId="{00000000-0000-0000-0000-000000000000}"/>
          </ac:spMkLst>
        </pc:spChg>
        <pc:spChg chg="del">
          <ac:chgData name="SHIGEO OWAKI" userId="d15d2ed448b6268d" providerId="LiveId" clId="{EB88316F-46F5-424F-B146-01FEE61D7DD8}" dt="2026-03-16T12:45:50.905" v="76" actId="478"/>
          <ac:spMkLst>
            <pc:docMk/>
            <pc:sldMk cId="0" sldId="256"/>
            <ac:spMk id="74" creationId="{00000000-0000-0000-0000-000000000000}"/>
          </ac:spMkLst>
        </pc:spChg>
        <pc:spChg chg="mod">
          <ac:chgData name="SHIGEO OWAKI" userId="d15d2ed448b6268d" providerId="LiveId" clId="{EB88316F-46F5-424F-B146-01FEE61D7DD8}" dt="2026-03-16T12:45:58.725" v="79" actId="1076"/>
          <ac:spMkLst>
            <pc:docMk/>
            <pc:sldMk cId="0" sldId="256"/>
            <ac:spMk id="75" creationId="{00000000-0000-0000-0000-000000000000}"/>
          </ac:spMkLst>
        </pc:spChg>
        <pc:spChg chg="del mod">
          <ac:chgData name="SHIGEO OWAKI" userId="d15d2ed448b6268d" providerId="LiveId" clId="{EB88316F-46F5-424F-B146-01FEE61D7DD8}" dt="2026-03-16T12:45:42.488" v="75"/>
          <ac:spMkLst>
            <pc:docMk/>
            <pc:sldMk cId="0" sldId="256"/>
            <ac:spMk id="76" creationId="{00000000-0000-0000-0000-000000000000}"/>
          </ac:spMkLst>
        </pc:spChg>
        <pc:spChg chg="del">
          <ac:chgData name="SHIGEO OWAKI" userId="d15d2ed448b6268d" providerId="LiveId" clId="{EB88316F-46F5-424F-B146-01FEE61D7DD8}" dt="2026-03-16T12:45:42.477" v="73" actId="478"/>
          <ac:spMkLst>
            <pc:docMk/>
            <pc:sldMk cId="0" sldId="256"/>
            <ac:spMk id="7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560000" cy="2520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8000" y="180000"/>
            <a:ext cx="4680000" cy="432000"/>
          </a:xfrm>
          <a:prstGeom prst="rect">
            <a:avLst/>
          </a:prstGeom>
          <a:noFill/>
        </p:spPr>
        <p:txBody>
          <a:bodyPr wrap="square">
            <a:spAutoFit/>
          </a:bodyPr>
          <a:lstStyle/>
          <a:p>
            <a:pPr algn="l"/>
            <a:r>
              <a:rPr sz="2000" b="1" dirty="0" err="1">
                <a:solidFill>
                  <a:srgbClr val="FFFFFF"/>
                </a:solidFill>
                <a:latin typeface="Yu Gothic UI"/>
              </a:rPr>
              <a:t>子牛</a:t>
            </a:r>
            <a:r>
              <a:rPr sz="2000" b="1" dirty="0">
                <a:solidFill>
                  <a:srgbClr val="FFFFFF"/>
                </a:solidFill>
                <a:latin typeface="Yu Gothic UI"/>
              </a:rPr>
              <a:t> </a:t>
            </a:r>
            <a:r>
              <a:rPr sz="2000" b="1" dirty="0" err="1">
                <a:solidFill>
                  <a:srgbClr val="FFFFFF"/>
                </a:solidFill>
                <a:latin typeface="Yu Gothic UI"/>
              </a:rPr>
              <a:t>肺エコー検診サービス</a:t>
            </a:r>
            <a:endParaRPr sz="2000" b="1" dirty="0">
              <a:solidFill>
                <a:srgbClr val="FFFFFF"/>
              </a:solidFill>
              <a:latin typeface="Yu Gothic UI"/>
            </a:endParaRPr>
          </a:p>
        </p:txBody>
      </p:sp>
      <p:sp>
        <p:nvSpPr>
          <p:cNvPr id="4" name="TextBox 3"/>
          <p:cNvSpPr txBox="1"/>
          <p:nvPr/>
        </p:nvSpPr>
        <p:spPr>
          <a:xfrm>
            <a:off x="288000" y="684000"/>
            <a:ext cx="4680000" cy="288000"/>
          </a:xfrm>
          <a:prstGeom prst="rect">
            <a:avLst/>
          </a:prstGeom>
          <a:noFill/>
        </p:spPr>
        <p:txBody>
          <a:bodyPr wrap="square">
            <a:spAutoFit/>
          </a:bodyPr>
          <a:lstStyle/>
          <a:p>
            <a:pPr algn="l"/>
            <a:r>
              <a:rPr sz="900" b="0">
                <a:solidFill>
                  <a:srgbClr val="A0F0C0"/>
                </a:solidFill>
                <a:latin typeface="Yu Gothic UI"/>
              </a:rPr>
              <a:t>— 見えない肺炎を、早く・正確に発見 —</a:t>
            </a:r>
          </a:p>
        </p:txBody>
      </p:sp>
      <p:sp>
        <p:nvSpPr>
          <p:cNvPr id="5" name="TextBox 4"/>
          <p:cNvSpPr txBox="1"/>
          <p:nvPr/>
        </p:nvSpPr>
        <p:spPr>
          <a:xfrm>
            <a:off x="288000" y="1080000"/>
            <a:ext cx="5220000" cy="720000"/>
          </a:xfrm>
          <a:prstGeom prst="rect">
            <a:avLst/>
          </a:prstGeom>
          <a:noFill/>
        </p:spPr>
        <p:txBody>
          <a:bodyPr wrap="square">
            <a:spAutoFit/>
          </a:bodyPr>
          <a:lstStyle/>
          <a:p>
            <a:pPr algn="l"/>
            <a:r>
              <a:rPr sz="950" b="0">
                <a:solidFill>
                  <a:srgbClr val="FFFFFF"/>
                </a:solidFill>
                <a:latin typeface="Yu Gothic UI"/>
              </a:rPr>
              <a:t>「うちの子牛、元気そうなのに
なんで大きくならないんだろう…」
そのお悩み、肺が原因かもしれません。</a:t>
            </a:r>
          </a:p>
        </p:txBody>
      </p:sp>
      <p:sp>
        <p:nvSpPr>
          <p:cNvPr id="7" name="Rectangle 6"/>
          <p:cNvSpPr/>
          <p:nvPr/>
        </p:nvSpPr>
        <p:spPr>
          <a:xfrm>
            <a:off x="5868000" y="1296000"/>
            <a:ext cx="1080000" cy="720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88000" y="648000"/>
            <a:ext cx="1368000" cy="100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16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04000" y="684000"/>
            <a:ext cx="324000" cy="252000"/>
          </a:xfrm>
          <a:prstGeom prst="rect">
            <a:avLst/>
          </a:prstGeom>
          <a:solidFill>
            <a:srgbClr val="FFD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12000" y="1296000"/>
            <a:ext cx="648000" cy="324000"/>
          </a:xfrm>
          <a:prstGeom prst="rect">
            <a:avLst/>
          </a:prstGeom>
          <a:solidFill>
            <a:srgbClr val="FF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94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80000" y="1908000"/>
            <a:ext cx="252000" cy="432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4000" y="792000"/>
            <a:ext cx="432000" cy="360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12000" y="1368000"/>
            <a:ext cx="288000" cy="2880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68000" y="828000"/>
            <a:ext cx="288000" cy="216000"/>
          </a:xfrm>
          <a:prstGeom prst="rect">
            <a:avLst/>
          </a:prstGeom>
          <a:noFill/>
        </p:spPr>
        <p:txBody>
          <a:bodyPr wrap="square">
            <a:spAutoFit/>
          </a:bodyPr>
          <a:lstStyle/>
          <a:p>
            <a:pPr algn="l"/>
            <a:r>
              <a:rPr sz="900" b="1">
                <a:solidFill>
                  <a:srgbClr val="502814"/>
                </a:solidFill>
                <a:latin typeface="Yu Gothic UI"/>
              </a:rPr>
              <a:t>●</a:t>
            </a:r>
          </a:p>
        </p:txBody>
      </p:sp>
      <p:sp>
        <p:nvSpPr>
          <p:cNvPr id="17" name="TextBox 16"/>
          <p:cNvSpPr txBox="1"/>
          <p:nvPr/>
        </p:nvSpPr>
        <p:spPr>
          <a:xfrm>
            <a:off x="6552000" y="828000"/>
            <a:ext cx="288000" cy="216000"/>
          </a:xfrm>
          <a:prstGeom prst="rect">
            <a:avLst/>
          </a:prstGeom>
          <a:noFill/>
        </p:spPr>
        <p:txBody>
          <a:bodyPr wrap="square">
            <a:spAutoFit/>
          </a:bodyPr>
          <a:lstStyle/>
          <a:p>
            <a:pPr algn="l"/>
            <a:r>
              <a:rPr sz="900" b="1">
                <a:solidFill>
                  <a:srgbClr val="502814"/>
                </a:solidFill>
                <a:latin typeface="Yu Gothic UI"/>
              </a:rPr>
              <a:t>●</a:t>
            </a:r>
          </a:p>
        </p:txBody>
      </p:sp>
      <p:sp>
        <p:nvSpPr>
          <p:cNvPr id="18" name="TextBox 17"/>
          <p:cNvSpPr txBox="1"/>
          <p:nvPr/>
        </p:nvSpPr>
        <p:spPr>
          <a:xfrm>
            <a:off x="6192000" y="468000"/>
            <a:ext cx="432000" cy="252000"/>
          </a:xfrm>
          <a:prstGeom prst="rect">
            <a:avLst/>
          </a:prstGeom>
          <a:noFill/>
        </p:spPr>
        <p:txBody>
          <a:bodyPr wrap="square">
            <a:spAutoFit/>
          </a:bodyPr>
          <a:lstStyle/>
          <a:p>
            <a:pPr algn="l"/>
            <a:r>
              <a:rPr sz="1000" b="1" dirty="0">
                <a:solidFill>
                  <a:srgbClr val="FF6496"/>
                </a:solidFill>
                <a:latin typeface="Yu Gothic UI"/>
              </a:rPr>
              <a:t>♡</a:t>
            </a:r>
          </a:p>
        </p:txBody>
      </p:sp>
      <p:sp>
        <p:nvSpPr>
          <p:cNvPr id="19" name="TextBox 18"/>
          <p:cNvSpPr txBox="1"/>
          <p:nvPr/>
        </p:nvSpPr>
        <p:spPr>
          <a:xfrm>
            <a:off x="6876000" y="396000"/>
            <a:ext cx="360000" cy="252000"/>
          </a:xfrm>
          <a:prstGeom prst="rect">
            <a:avLst/>
          </a:prstGeom>
          <a:noFill/>
        </p:spPr>
        <p:txBody>
          <a:bodyPr wrap="square">
            <a:spAutoFit/>
          </a:bodyPr>
          <a:lstStyle/>
          <a:p>
            <a:pPr algn="l"/>
            <a:r>
              <a:rPr sz="700" b="0">
                <a:solidFill>
                  <a:srgbClr val="FFE664"/>
                </a:solidFill>
                <a:latin typeface="Yu Gothic UI"/>
              </a:rPr>
              <a:t>✦</a:t>
            </a:r>
          </a:p>
        </p:txBody>
      </p:sp>
      <p:sp>
        <p:nvSpPr>
          <p:cNvPr id="20" name="TextBox 19"/>
          <p:cNvSpPr txBox="1"/>
          <p:nvPr/>
        </p:nvSpPr>
        <p:spPr>
          <a:xfrm>
            <a:off x="5580000" y="432000"/>
            <a:ext cx="360000" cy="252000"/>
          </a:xfrm>
          <a:prstGeom prst="rect">
            <a:avLst/>
          </a:prstGeom>
          <a:noFill/>
        </p:spPr>
        <p:txBody>
          <a:bodyPr wrap="square">
            <a:spAutoFit/>
          </a:bodyPr>
          <a:lstStyle/>
          <a:p>
            <a:pPr algn="l"/>
            <a:r>
              <a:rPr sz="600" b="0">
                <a:solidFill>
                  <a:srgbClr val="FFE664"/>
                </a:solidFill>
                <a:latin typeface="Yu Gothic UI"/>
              </a:rPr>
              <a:t>✦</a:t>
            </a:r>
          </a:p>
        </p:txBody>
      </p:sp>
      <p:sp>
        <p:nvSpPr>
          <p:cNvPr id="21" name="Rectangle 20"/>
          <p:cNvSpPr/>
          <p:nvPr/>
        </p:nvSpPr>
        <p:spPr>
          <a:xfrm>
            <a:off x="0" y="2520000"/>
            <a:ext cx="7560000" cy="1368000"/>
          </a:xfrm>
          <a:prstGeom prst="rect">
            <a:avLst/>
          </a:prstGeom>
          <a:solidFill>
            <a:srgbClr val="FFF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8000" y="2628000"/>
            <a:ext cx="6984000" cy="324000"/>
          </a:xfrm>
          <a:prstGeom prst="rect">
            <a:avLst/>
          </a:prstGeom>
          <a:noFill/>
        </p:spPr>
        <p:txBody>
          <a:bodyPr wrap="square">
            <a:spAutoFit/>
          </a:bodyPr>
          <a:lstStyle/>
          <a:p>
            <a:pPr algn="l"/>
            <a:r>
              <a:rPr sz="1200" b="1">
                <a:solidFill>
                  <a:srgbClr val="B45000"/>
                </a:solidFill>
                <a:latin typeface="Yu Gothic UI"/>
              </a:rPr>
              <a:t>⚠ 「不顕性肺炎」を知っていますか？</a:t>
            </a:r>
          </a:p>
        </p:txBody>
      </p:sp>
      <p:sp>
        <p:nvSpPr>
          <p:cNvPr id="23" name="TextBox 22"/>
          <p:cNvSpPr txBox="1"/>
          <p:nvPr/>
        </p:nvSpPr>
        <p:spPr>
          <a:xfrm>
            <a:off x="288000" y="2988000"/>
            <a:ext cx="6984000" cy="792000"/>
          </a:xfrm>
          <a:prstGeom prst="rect">
            <a:avLst/>
          </a:prstGeom>
          <a:noFill/>
        </p:spPr>
        <p:txBody>
          <a:bodyPr wrap="square">
            <a:spAutoFit/>
          </a:bodyPr>
          <a:lstStyle/>
          <a:p>
            <a:pPr algn="l">
              <a:lnSpc>
                <a:spcPts val="1400"/>
              </a:lnSpc>
            </a:pPr>
            <a:r>
              <a:rPr sz="900" b="0">
                <a:solidFill>
                  <a:srgbClr val="1E2E1E"/>
                </a:solidFill>
                <a:latin typeface="Yu Gothic UI"/>
              </a:rPr>
              <a:t>子牛の肺炎は「咳・鼻水・発熱」が出て初めて気づくケースがほとんどです。</a:t>
            </a:r>
          </a:p>
          <a:p>
            <a:pPr algn="l">
              <a:lnSpc>
                <a:spcPts val="1400"/>
              </a:lnSpc>
            </a:pPr>
            <a:r>
              <a:rPr sz="900" b="0">
                <a:solidFill>
                  <a:srgbClr val="1E2E1E"/>
                </a:solidFill>
                <a:latin typeface="Yu Gothic UI"/>
              </a:rPr>
              <a:t>しかし実は、症状が出る前から肺の中で炎症が進行していることが多くあります。</a:t>
            </a:r>
          </a:p>
          <a:p>
            <a:pPr algn="l">
              <a:lnSpc>
                <a:spcPts val="1400"/>
              </a:lnSpc>
            </a:pPr>
            <a:r>
              <a:rPr sz="900" b="1">
                <a:solidFill>
                  <a:srgbClr val="B45000"/>
                </a:solidFill>
                <a:latin typeface="Yu Gothic UI"/>
              </a:rPr>
              <a:t>肺エコーを使えば、こうした"見えない肺炎"を症状が出る前に発見できます。</a:t>
            </a:r>
          </a:p>
        </p:txBody>
      </p:sp>
      <p:sp>
        <p:nvSpPr>
          <p:cNvPr id="24" name="Rectangle 23"/>
          <p:cNvSpPr/>
          <p:nvPr/>
        </p:nvSpPr>
        <p:spPr>
          <a:xfrm>
            <a:off x="0" y="3888000"/>
            <a:ext cx="7560000" cy="18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8000" y="3996000"/>
            <a:ext cx="6984000" cy="324000"/>
          </a:xfrm>
          <a:prstGeom prst="rect">
            <a:avLst/>
          </a:prstGeom>
          <a:noFill/>
        </p:spPr>
        <p:txBody>
          <a:bodyPr wrap="square">
            <a:spAutoFit/>
          </a:bodyPr>
          <a:lstStyle/>
          <a:p>
            <a:pPr algn="l"/>
            <a:r>
              <a:rPr sz="1100" b="1">
                <a:solidFill>
                  <a:srgbClr val="DC3C3C"/>
                </a:solidFill>
                <a:latin typeface="Yu Gothic UI"/>
              </a:rPr>
              <a:t>📉 放置すると…こんなリスクがあります</a:t>
            </a:r>
          </a:p>
        </p:txBody>
      </p:sp>
      <p:sp>
        <p:nvSpPr>
          <p:cNvPr id="26" name="Rectangle 25"/>
          <p:cNvSpPr/>
          <p:nvPr/>
        </p:nvSpPr>
        <p:spPr>
          <a:xfrm>
            <a:off x="288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0000" y="4428000"/>
            <a:ext cx="2016000" cy="324000"/>
          </a:xfrm>
          <a:prstGeom prst="rect">
            <a:avLst/>
          </a:prstGeom>
          <a:noFill/>
        </p:spPr>
        <p:txBody>
          <a:bodyPr wrap="square">
            <a:spAutoFit/>
          </a:bodyPr>
          <a:lstStyle/>
          <a:p>
            <a:pPr algn="l"/>
            <a:r>
              <a:rPr sz="950" b="1">
                <a:solidFill>
                  <a:srgbClr val="DC3C3C"/>
                </a:solidFill>
                <a:latin typeface="Yu Gothic UI"/>
              </a:rPr>
              <a:t>💊 治療費増大</a:t>
            </a:r>
          </a:p>
        </p:txBody>
      </p:sp>
      <p:sp>
        <p:nvSpPr>
          <p:cNvPr id="28" name="TextBox 27"/>
          <p:cNvSpPr txBox="1"/>
          <p:nvPr/>
        </p:nvSpPr>
        <p:spPr>
          <a:xfrm>
            <a:off x="360000" y="4752000"/>
            <a:ext cx="2016000" cy="720000"/>
          </a:xfrm>
          <a:prstGeom prst="rect">
            <a:avLst/>
          </a:prstGeom>
          <a:noFill/>
        </p:spPr>
        <p:txBody>
          <a:bodyPr wrap="square">
            <a:spAutoFit/>
          </a:bodyPr>
          <a:lstStyle/>
          <a:p>
            <a:pPr algn="l"/>
            <a:r>
              <a:rPr sz="850" b="0">
                <a:solidFill>
                  <a:srgbClr val="3C2828"/>
                </a:solidFill>
                <a:latin typeface="Yu Gothic UI"/>
              </a:rPr>
              <a:t>発見が遅れるほど
治療が長引き
コストが増加</a:t>
            </a:r>
          </a:p>
        </p:txBody>
      </p:sp>
      <p:sp>
        <p:nvSpPr>
          <p:cNvPr id="29" name="Rectangle 28"/>
          <p:cNvSpPr/>
          <p:nvPr/>
        </p:nvSpPr>
        <p:spPr>
          <a:xfrm>
            <a:off x="2592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664000" y="4428000"/>
            <a:ext cx="2016000" cy="324000"/>
          </a:xfrm>
          <a:prstGeom prst="rect">
            <a:avLst/>
          </a:prstGeom>
          <a:noFill/>
        </p:spPr>
        <p:txBody>
          <a:bodyPr wrap="square">
            <a:spAutoFit/>
          </a:bodyPr>
          <a:lstStyle/>
          <a:p>
            <a:pPr algn="l"/>
            <a:r>
              <a:rPr sz="950" b="1">
                <a:solidFill>
                  <a:srgbClr val="DC3C3C"/>
                </a:solidFill>
                <a:latin typeface="Yu Gothic UI"/>
              </a:rPr>
              <a:t>📏 発育遅延</a:t>
            </a:r>
          </a:p>
        </p:txBody>
      </p:sp>
      <p:sp>
        <p:nvSpPr>
          <p:cNvPr id="31" name="TextBox 30"/>
          <p:cNvSpPr txBox="1"/>
          <p:nvPr/>
        </p:nvSpPr>
        <p:spPr>
          <a:xfrm>
            <a:off x="2664000" y="4752000"/>
            <a:ext cx="2016000" cy="720000"/>
          </a:xfrm>
          <a:prstGeom prst="rect">
            <a:avLst/>
          </a:prstGeom>
          <a:noFill/>
        </p:spPr>
        <p:txBody>
          <a:bodyPr wrap="square">
            <a:spAutoFit/>
          </a:bodyPr>
          <a:lstStyle/>
          <a:p>
            <a:pPr algn="l"/>
            <a:r>
              <a:rPr sz="850" b="0">
                <a:solidFill>
                  <a:srgbClr val="3C2828"/>
                </a:solidFill>
                <a:latin typeface="Yu Gothic UI"/>
              </a:rPr>
              <a:t>肺炎既往牛は
発育が遅く
出荷体重が落ちやすい</a:t>
            </a:r>
          </a:p>
        </p:txBody>
      </p:sp>
      <p:sp>
        <p:nvSpPr>
          <p:cNvPr id="32" name="Rectangle 31"/>
          <p:cNvSpPr/>
          <p:nvPr/>
        </p:nvSpPr>
        <p:spPr>
          <a:xfrm>
            <a:off x="4896000" y="4356000"/>
            <a:ext cx="2160000" cy="1188000"/>
          </a:xfrm>
          <a:prstGeom prst="rect">
            <a:avLst/>
          </a:prstGeom>
          <a:solidFill>
            <a:srgbClr val="FFF5F5"/>
          </a:solidFill>
          <a:ln w="6350">
            <a:solidFill>
              <a:srgbClr val="DC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68000" y="4428000"/>
            <a:ext cx="2016000" cy="324000"/>
          </a:xfrm>
          <a:prstGeom prst="rect">
            <a:avLst/>
          </a:prstGeom>
          <a:noFill/>
        </p:spPr>
        <p:txBody>
          <a:bodyPr wrap="square">
            <a:spAutoFit/>
          </a:bodyPr>
          <a:lstStyle/>
          <a:p>
            <a:pPr algn="l"/>
            <a:r>
              <a:rPr sz="950" b="1">
                <a:solidFill>
                  <a:srgbClr val="DC3C3C"/>
                </a:solidFill>
                <a:latin typeface="Yu Gothic UI"/>
              </a:rPr>
              <a:t>⚡ 廃用リスク</a:t>
            </a:r>
          </a:p>
        </p:txBody>
      </p:sp>
      <p:sp>
        <p:nvSpPr>
          <p:cNvPr id="34" name="TextBox 33"/>
          <p:cNvSpPr txBox="1"/>
          <p:nvPr/>
        </p:nvSpPr>
        <p:spPr>
          <a:xfrm>
            <a:off x="4968000" y="4752000"/>
            <a:ext cx="2016000" cy="720000"/>
          </a:xfrm>
          <a:prstGeom prst="rect">
            <a:avLst/>
          </a:prstGeom>
          <a:noFill/>
        </p:spPr>
        <p:txBody>
          <a:bodyPr wrap="square">
            <a:spAutoFit/>
          </a:bodyPr>
          <a:lstStyle/>
          <a:p>
            <a:pPr algn="l"/>
            <a:r>
              <a:rPr sz="850" b="0">
                <a:solidFill>
                  <a:srgbClr val="3C2828"/>
                </a:solidFill>
                <a:latin typeface="Yu Gothic UI"/>
              </a:rPr>
              <a:t>重症化すると
慢性肺炎となり
早期廃用の原因に</a:t>
            </a:r>
          </a:p>
        </p:txBody>
      </p:sp>
      <p:sp>
        <p:nvSpPr>
          <p:cNvPr id="35" name="Rectangle 34"/>
          <p:cNvSpPr/>
          <p:nvPr/>
        </p:nvSpPr>
        <p:spPr>
          <a:xfrm>
            <a:off x="0" y="5688000"/>
            <a:ext cx="7560000" cy="1728000"/>
          </a:xfrm>
          <a:prstGeom prst="rect">
            <a:avLst/>
          </a:prstGeom>
          <a:solidFill>
            <a:srgbClr val="F0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8000" y="5796000"/>
            <a:ext cx="6984000" cy="324000"/>
          </a:xfrm>
          <a:prstGeom prst="rect">
            <a:avLst/>
          </a:prstGeom>
          <a:noFill/>
        </p:spPr>
        <p:txBody>
          <a:bodyPr wrap="square">
            <a:spAutoFit/>
          </a:bodyPr>
          <a:lstStyle/>
          <a:p>
            <a:pPr algn="l"/>
            <a:r>
              <a:rPr sz="1100" b="1">
                <a:solidFill>
                  <a:srgbClr val="1B5C32"/>
                </a:solidFill>
                <a:latin typeface="Yu Gothic UI"/>
              </a:rPr>
              <a:t>🐄 検診の流れ</a:t>
            </a:r>
          </a:p>
        </p:txBody>
      </p:sp>
      <p:sp>
        <p:nvSpPr>
          <p:cNvPr id="37" name="Rectangle 36"/>
          <p:cNvSpPr/>
          <p:nvPr/>
        </p:nvSpPr>
        <p:spPr>
          <a:xfrm>
            <a:off x="3240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4000" y="6228000"/>
            <a:ext cx="1252800" cy="288000"/>
          </a:xfrm>
          <a:prstGeom prst="rect">
            <a:avLst/>
          </a:prstGeom>
          <a:noFill/>
        </p:spPr>
        <p:txBody>
          <a:bodyPr wrap="square">
            <a:spAutoFit/>
          </a:bodyPr>
          <a:lstStyle/>
          <a:p>
            <a:pPr algn="ctr"/>
            <a:r>
              <a:rPr sz="900" b="1">
                <a:solidFill>
                  <a:srgbClr val="FFE664"/>
                </a:solidFill>
                <a:latin typeface="Yu Gothic UI"/>
              </a:rPr>
              <a:t>①</a:t>
            </a:r>
          </a:p>
        </p:txBody>
      </p:sp>
      <p:sp>
        <p:nvSpPr>
          <p:cNvPr id="39" name="TextBox 38"/>
          <p:cNvSpPr txBox="1"/>
          <p:nvPr/>
        </p:nvSpPr>
        <p:spPr>
          <a:xfrm>
            <a:off x="324000" y="6516000"/>
            <a:ext cx="1252800" cy="576000"/>
          </a:xfrm>
          <a:prstGeom prst="rect">
            <a:avLst/>
          </a:prstGeom>
          <a:noFill/>
        </p:spPr>
        <p:txBody>
          <a:bodyPr wrap="square">
            <a:spAutoFit/>
          </a:bodyPr>
          <a:lstStyle/>
          <a:p>
            <a:pPr algn="ctr"/>
            <a:r>
              <a:rPr sz="800" b="1">
                <a:solidFill>
                  <a:srgbClr val="FFFFFF"/>
                </a:solidFill>
                <a:latin typeface="Yu Gothic UI"/>
              </a:rPr>
              <a:t>事前
ご連絡</a:t>
            </a:r>
          </a:p>
        </p:txBody>
      </p:sp>
      <p:sp>
        <p:nvSpPr>
          <p:cNvPr id="40" name="TextBox 39"/>
          <p:cNvSpPr txBox="1"/>
          <p:nvPr/>
        </p:nvSpPr>
        <p:spPr>
          <a:xfrm>
            <a:off x="15768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1" name="Rectangle 40"/>
          <p:cNvSpPr/>
          <p:nvPr/>
        </p:nvSpPr>
        <p:spPr>
          <a:xfrm>
            <a:off x="17208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720800" y="6228000"/>
            <a:ext cx="1252800" cy="288000"/>
          </a:xfrm>
          <a:prstGeom prst="rect">
            <a:avLst/>
          </a:prstGeom>
          <a:noFill/>
        </p:spPr>
        <p:txBody>
          <a:bodyPr wrap="square">
            <a:spAutoFit/>
          </a:bodyPr>
          <a:lstStyle/>
          <a:p>
            <a:pPr algn="ctr"/>
            <a:r>
              <a:rPr sz="900" b="1">
                <a:solidFill>
                  <a:srgbClr val="FFE664"/>
                </a:solidFill>
                <a:latin typeface="Yu Gothic UI"/>
              </a:rPr>
              <a:t>②</a:t>
            </a:r>
          </a:p>
        </p:txBody>
      </p:sp>
      <p:sp>
        <p:nvSpPr>
          <p:cNvPr id="43" name="TextBox 42"/>
          <p:cNvSpPr txBox="1"/>
          <p:nvPr/>
        </p:nvSpPr>
        <p:spPr>
          <a:xfrm>
            <a:off x="1720800" y="6516000"/>
            <a:ext cx="1252800" cy="576000"/>
          </a:xfrm>
          <a:prstGeom prst="rect">
            <a:avLst/>
          </a:prstGeom>
          <a:noFill/>
        </p:spPr>
        <p:txBody>
          <a:bodyPr wrap="square">
            <a:spAutoFit/>
          </a:bodyPr>
          <a:lstStyle/>
          <a:p>
            <a:pPr algn="ctr"/>
            <a:r>
              <a:rPr sz="800" b="1">
                <a:solidFill>
                  <a:srgbClr val="FFFFFF"/>
                </a:solidFill>
                <a:latin typeface="Yu Gothic UI"/>
              </a:rPr>
              <a:t>農場
訪問</a:t>
            </a:r>
          </a:p>
        </p:txBody>
      </p:sp>
      <p:sp>
        <p:nvSpPr>
          <p:cNvPr id="44" name="TextBox 43"/>
          <p:cNvSpPr txBox="1"/>
          <p:nvPr/>
        </p:nvSpPr>
        <p:spPr>
          <a:xfrm>
            <a:off x="29736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5" name="Rectangle 44"/>
          <p:cNvSpPr/>
          <p:nvPr/>
        </p:nvSpPr>
        <p:spPr>
          <a:xfrm>
            <a:off x="31176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17600" y="6228000"/>
            <a:ext cx="1252800" cy="288000"/>
          </a:xfrm>
          <a:prstGeom prst="rect">
            <a:avLst/>
          </a:prstGeom>
          <a:noFill/>
        </p:spPr>
        <p:txBody>
          <a:bodyPr wrap="square">
            <a:spAutoFit/>
          </a:bodyPr>
          <a:lstStyle/>
          <a:p>
            <a:pPr algn="ctr"/>
            <a:r>
              <a:rPr sz="900" b="1">
                <a:solidFill>
                  <a:srgbClr val="FFE664"/>
                </a:solidFill>
                <a:latin typeface="Yu Gothic UI"/>
              </a:rPr>
              <a:t>③</a:t>
            </a:r>
          </a:p>
        </p:txBody>
      </p:sp>
      <p:sp>
        <p:nvSpPr>
          <p:cNvPr id="47" name="TextBox 46"/>
          <p:cNvSpPr txBox="1"/>
          <p:nvPr/>
        </p:nvSpPr>
        <p:spPr>
          <a:xfrm>
            <a:off x="3117600" y="6516000"/>
            <a:ext cx="1252800" cy="576000"/>
          </a:xfrm>
          <a:prstGeom prst="rect">
            <a:avLst/>
          </a:prstGeom>
          <a:noFill/>
        </p:spPr>
        <p:txBody>
          <a:bodyPr wrap="square">
            <a:spAutoFit/>
          </a:bodyPr>
          <a:lstStyle/>
          <a:p>
            <a:pPr algn="ctr"/>
            <a:r>
              <a:rPr sz="800" b="1">
                <a:solidFill>
                  <a:srgbClr val="FFFFFF"/>
                </a:solidFill>
                <a:latin typeface="Yu Gothic UI"/>
              </a:rPr>
              <a:t>超音波
検査</a:t>
            </a:r>
          </a:p>
        </p:txBody>
      </p:sp>
      <p:sp>
        <p:nvSpPr>
          <p:cNvPr id="48" name="TextBox 47"/>
          <p:cNvSpPr txBox="1"/>
          <p:nvPr/>
        </p:nvSpPr>
        <p:spPr>
          <a:xfrm>
            <a:off x="43704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49" name="Rectangle 48"/>
          <p:cNvSpPr/>
          <p:nvPr/>
        </p:nvSpPr>
        <p:spPr>
          <a:xfrm>
            <a:off x="45144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14400" y="6228000"/>
            <a:ext cx="1252800" cy="288000"/>
          </a:xfrm>
          <a:prstGeom prst="rect">
            <a:avLst/>
          </a:prstGeom>
          <a:noFill/>
        </p:spPr>
        <p:txBody>
          <a:bodyPr wrap="square">
            <a:spAutoFit/>
          </a:bodyPr>
          <a:lstStyle/>
          <a:p>
            <a:pPr algn="ctr"/>
            <a:r>
              <a:rPr sz="900" b="1">
                <a:solidFill>
                  <a:srgbClr val="FFE664"/>
                </a:solidFill>
                <a:latin typeface="Yu Gothic UI"/>
              </a:rPr>
              <a:t>④</a:t>
            </a:r>
          </a:p>
        </p:txBody>
      </p:sp>
      <p:sp>
        <p:nvSpPr>
          <p:cNvPr id="51" name="TextBox 50"/>
          <p:cNvSpPr txBox="1"/>
          <p:nvPr/>
        </p:nvSpPr>
        <p:spPr>
          <a:xfrm>
            <a:off x="4514400" y="6516000"/>
            <a:ext cx="1252800" cy="576000"/>
          </a:xfrm>
          <a:prstGeom prst="rect">
            <a:avLst/>
          </a:prstGeom>
          <a:noFill/>
        </p:spPr>
        <p:txBody>
          <a:bodyPr wrap="square">
            <a:spAutoFit/>
          </a:bodyPr>
          <a:lstStyle/>
          <a:p>
            <a:pPr algn="ctr"/>
            <a:r>
              <a:rPr sz="800" b="1">
                <a:solidFill>
                  <a:srgbClr val="FFFFFF"/>
                </a:solidFill>
                <a:latin typeface="Yu Gothic UI"/>
              </a:rPr>
              <a:t>その場で
結果説明</a:t>
            </a:r>
          </a:p>
        </p:txBody>
      </p:sp>
      <p:sp>
        <p:nvSpPr>
          <p:cNvPr id="52" name="TextBox 51"/>
          <p:cNvSpPr txBox="1"/>
          <p:nvPr/>
        </p:nvSpPr>
        <p:spPr>
          <a:xfrm>
            <a:off x="5767200" y="6480000"/>
            <a:ext cx="216000" cy="288000"/>
          </a:xfrm>
          <a:prstGeom prst="rect">
            <a:avLst/>
          </a:prstGeom>
          <a:noFill/>
        </p:spPr>
        <p:txBody>
          <a:bodyPr wrap="square">
            <a:spAutoFit/>
          </a:bodyPr>
          <a:lstStyle/>
          <a:p>
            <a:pPr algn="l"/>
            <a:r>
              <a:rPr sz="700" b="0">
                <a:solidFill>
                  <a:srgbClr val="1B5C32"/>
                </a:solidFill>
                <a:latin typeface="Yu Gothic UI"/>
              </a:rPr>
              <a:t>▶</a:t>
            </a:r>
          </a:p>
        </p:txBody>
      </p:sp>
      <p:sp>
        <p:nvSpPr>
          <p:cNvPr id="53" name="Rectangle 52"/>
          <p:cNvSpPr/>
          <p:nvPr/>
        </p:nvSpPr>
        <p:spPr>
          <a:xfrm>
            <a:off x="5911200" y="6192000"/>
            <a:ext cx="1252800" cy="1008000"/>
          </a:xfrm>
          <a:prstGeom prst="rect">
            <a:avLst/>
          </a:prstGeom>
          <a:solidFill>
            <a:srgbClr val="2E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11200" y="6228000"/>
            <a:ext cx="1252800" cy="288000"/>
          </a:xfrm>
          <a:prstGeom prst="rect">
            <a:avLst/>
          </a:prstGeom>
          <a:noFill/>
        </p:spPr>
        <p:txBody>
          <a:bodyPr wrap="square">
            <a:spAutoFit/>
          </a:bodyPr>
          <a:lstStyle/>
          <a:p>
            <a:pPr algn="ctr"/>
            <a:r>
              <a:rPr sz="900" b="1">
                <a:solidFill>
                  <a:srgbClr val="FFE664"/>
                </a:solidFill>
                <a:latin typeface="Yu Gothic UI"/>
              </a:rPr>
              <a:t>⑤</a:t>
            </a:r>
          </a:p>
        </p:txBody>
      </p:sp>
      <p:sp>
        <p:nvSpPr>
          <p:cNvPr id="55" name="TextBox 54"/>
          <p:cNvSpPr txBox="1"/>
          <p:nvPr/>
        </p:nvSpPr>
        <p:spPr>
          <a:xfrm>
            <a:off x="5911200" y="6516000"/>
            <a:ext cx="1252800" cy="576000"/>
          </a:xfrm>
          <a:prstGeom prst="rect">
            <a:avLst/>
          </a:prstGeom>
          <a:noFill/>
        </p:spPr>
        <p:txBody>
          <a:bodyPr wrap="square">
            <a:spAutoFit/>
          </a:bodyPr>
          <a:lstStyle/>
          <a:p>
            <a:pPr algn="ctr"/>
            <a:r>
              <a:rPr sz="800" b="1">
                <a:solidFill>
                  <a:srgbClr val="FFFFFF"/>
                </a:solidFill>
                <a:latin typeface="Yu Gothic UI"/>
              </a:rPr>
              <a:t>データ
報告書</a:t>
            </a:r>
          </a:p>
        </p:txBody>
      </p:sp>
      <p:sp>
        <p:nvSpPr>
          <p:cNvPr id="56" name="TextBox 55"/>
          <p:cNvSpPr txBox="1"/>
          <p:nvPr/>
        </p:nvSpPr>
        <p:spPr>
          <a:xfrm>
            <a:off x="288000" y="7236000"/>
            <a:ext cx="6984000" cy="252000"/>
          </a:xfrm>
          <a:prstGeom prst="rect">
            <a:avLst/>
          </a:prstGeom>
          <a:noFill/>
        </p:spPr>
        <p:txBody>
          <a:bodyPr wrap="square">
            <a:spAutoFit/>
          </a:bodyPr>
          <a:lstStyle/>
          <a:p>
            <a:pPr algn="l"/>
            <a:r>
              <a:rPr sz="750" b="0">
                <a:solidFill>
                  <a:srgbClr val="3C643C"/>
                </a:solidFill>
                <a:latin typeface="Yu Gothic UI"/>
              </a:rPr>
              <a:t>※ 検査は農場に伺い、子牛1頭ずつ超音波プローブを当てるだけ。拘束・痛みはありません。</a:t>
            </a:r>
          </a:p>
        </p:txBody>
      </p:sp>
      <p:sp>
        <p:nvSpPr>
          <p:cNvPr id="57" name="Rectangle 56"/>
          <p:cNvSpPr/>
          <p:nvPr/>
        </p:nvSpPr>
        <p:spPr>
          <a:xfrm>
            <a:off x="0" y="7147775"/>
            <a:ext cx="7560000" cy="21760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88000" y="7255776"/>
            <a:ext cx="6984000" cy="324000"/>
          </a:xfrm>
          <a:prstGeom prst="rect">
            <a:avLst/>
          </a:prstGeom>
          <a:noFill/>
        </p:spPr>
        <p:txBody>
          <a:bodyPr wrap="square">
            <a:spAutoFit/>
          </a:bodyPr>
          <a:lstStyle/>
          <a:p>
            <a:pPr algn="l"/>
            <a:r>
              <a:rPr sz="1100" b="1" dirty="0">
                <a:solidFill>
                  <a:srgbClr val="1B5C32"/>
                </a:solidFill>
                <a:latin typeface="Yu Gothic UI"/>
              </a:rPr>
              <a:t>💴 </a:t>
            </a:r>
            <a:r>
              <a:rPr sz="1100" b="1" dirty="0" err="1">
                <a:solidFill>
                  <a:srgbClr val="1B5C32"/>
                </a:solidFill>
                <a:latin typeface="Yu Gothic UI"/>
              </a:rPr>
              <a:t>料金のご案内</a:t>
            </a:r>
            <a:endParaRPr sz="1100" b="1" dirty="0">
              <a:solidFill>
                <a:srgbClr val="1B5C32"/>
              </a:solidFill>
              <a:latin typeface="Yu Gothic UI"/>
            </a:endParaRPr>
          </a:p>
        </p:txBody>
      </p:sp>
      <p:sp>
        <p:nvSpPr>
          <p:cNvPr id="59" name="Rectangle 58"/>
          <p:cNvSpPr/>
          <p:nvPr/>
        </p:nvSpPr>
        <p:spPr>
          <a:xfrm>
            <a:off x="288000" y="7651776"/>
            <a:ext cx="6984000" cy="504000"/>
          </a:xfrm>
          <a:prstGeom prst="rect">
            <a:avLst/>
          </a:prstGeom>
          <a:solidFill>
            <a:srgbClr val="F0FAF0"/>
          </a:solidFill>
          <a:ln w="6350">
            <a:solidFill>
              <a:srgbClr val="64A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32000" y="7723776"/>
            <a:ext cx="2520000" cy="360000"/>
          </a:xfrm>
          <a:prstGeom prst="rect">
            <a:avLst/>
          </a:prstGeom>
          <a:noFill/>
        </p:spPr>
        <p:txBody>
          <a:bodyPr wrap="square">
            <a:spAutoFit/>
          </a:bodyPr>
          <a:lstStyle/>
          <a:p>
            <a:pPr algn="l"/>
            <a:r>
              <a:rPr sz="1000" b="1">
                <a:solidFill>
                  <a:srgbClr val="1B5C32"/>
                </a:solidFill>
                <a:latin typeface="Yu Gothic UI"/>
              </a:rPr>
              <a:t>農場訪問料</a:t>
            </a:r>
          </a:p>
        </p:txBody>
      </p:sp>
      <p:sp>
        <p:nvSpPr>
          <p:cNvPr id="61" name="TextBox 60"/>
          <p:cNvSpPr txBox="1"/>
          <p:nvPr/>
        </p:nvSpPr>
        <p:spPr>
          <a:xfrm>
            <a:off x="3060000" y="7687776"/>
            <a:ext cx="1980000" cy="432000"/>
          </a:xfrm>
          <a:prstGeom prst="rect">
            <a:avLst/>
          </a:prstGeom>
          <a:noFill/>
        </p:spPr>
        <p:txBody>
          <a:bodyPr wrap="square">
            <a:spAutoFit/>
          </a:bodyPr>
          <a:lstStyle/>
          <a:p>
            <a:pPr algn="r"/>
            <a:r>
              <a:rPr sz="1300" b="1">
                <a:solidFill>
                  <a:srgbClr val="B45000"/>
                </a:solidFill>
                <a:latin typeface="Yu Gothic UI"/>
              </a:rPr>
              <a:t>11,250 円</a:t>
            </a:r>
          </a:p>
        </p:txBody>
      </p:sp>
      <p:sp>
        <p:nvSpPr>
          <p:cNvPr id="62" name="TextBox 61"/>
          <p:cNvSpPr txBox="1"/>
          <p:nvPr/>
        </p:nvSpPr>
        <p:spPr>
          <a:xfrm>
            <a:off x="5148000" y="7759776"/>
            <a:ext cx="2160000" cy="288000"/>
          </a:xfrm>
          <a:prstGeom prst="rect">
            <a:avLst/>
          </a:prstGeom>
          <a:noFill/>
        </p:spPr>
        <p:txBody>
          <a:bodyPr wrap="square">
            <a:spAutoFit/>
          </a:bodyPr>
          <a:lstStyle/>
          <a:p>
            <a:pPr algn="l"/>
            <a:r>
              <a:rPr sz="750" b="0">
                <a:solidFill>
                  <a:srgbClr val="505050"/>
                </a:solidFill>
                <a:latin typeface="Yu Gothic UI"/>
              </a:rPr>
              <a:t>（交通費・出張費込み）</a:t>
            </a:r>
          </a:p>
        </p:txBody>
      </p:sp>
      <p:sp>
        <p:nvSpPr>
          <p:cNvPr id="63" name="Rectangle 62"/>
          <p:cNvSpPr/>
          <p:nvPr/>
        </p:nvSpPr>
        <p:spPr>
          <a:xfrm>
            <a:off x="288000" y="8227776"/>
            <a:ext cx="6984000" cy="504000"/>
          </a:xfrm>
          <a:prstGeom prst="rect">
            <a:avLst/>
          </a:prstGeom>
          <a:solidFill>
            <a:srgbClr val="F0FAF0"/>
          </a:solidFill>
          <a:ln w="6350">
            <a:solidFill>
              <a:srgbClr val="64A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2000" y="8299776"/>
            <a:ext cx="2520000" cy="360000"/>
          </a:xfrm>
          <a:prstGeom prst="rect">
            <a:avLst/>
          </a:prstGeom>
          <a:noFill/>
        </p:spPr>
        <p:txBody>
          <a:bodyPr wrap="square">
            <a:spAutoFit/>
          </a:bodyPr>
          <a:lstStyle/>
          <a:p>
            <a:pPr algn="l"/>
            <a:r>
              <a:rPr sz="1000" b="1">
                <a:solidFill>
                  <a:srgbClr val="1B5C32"/>
                </a:solidFill>
                <a:latin typeface="Yu Gothic UI"/>
              </a:rPr>
              <a:t>データ分析料</a:t>
            </a:r>
          </a:p>
        </p:txBody>
      </p:sp>
      <p:sp>
        <p:nvSpPr>
          <p:cNvPr id="65" name="TextBox 64"/>
          <p:cNvSpPr txBox="1"/>
          <p:nvPr/>
        </p:nvSpPr>
        <p:spPr>
          <a:xfrm>
            <a:off x="3060000" y="8263776"/>
            <a:ext cx="1980000" cy="432000"/>
          </a:xfrm>
          <a:prstGeom prst="rect">
            <a:avLst/>
          </a:prstGeom>
          <a:noFill/>
        </p:spPr>
        <p:txBody>
          <a:bodyPr wrap="square">
            <a:spAutoFit/>
          </a:bodyPr>
          <a:lstStyle/>
          <a:p>
            <a:pPr algn="r"/>
            <a:r>
              <a:rPr sz="1300" b="1">
                <a:solidFill>
                  <a:srgbClr val="B45000"/>
                </a:solidFill>
                <a:latin typeface="Yu Gothic UI"/>
              </a:rPr>
              <a:t>7,500 円</a:t>
            </a:r>
          </a:p>
        </p:txBody>
      </p:sp>
      <p:sp>
        <p:nvSpPr>
          <p:cNvPr id="66" name="TextBox 65"/>
          <p:cNvSpPr txBox="1"/>
          <p:nvPr/>
        </p:nvSpPr>
        <p:spPr>
          <a:xfrm>
            <a:off x="5148000" y="8335776"/>
            <a:ext cx="2160000" cy="288000"/>
          </a:xfrm>
          <a:prstGeom prst="rect">
            <a:avLst/>
          </a:prstGeom>
          <a:noFill/>
        </p:spPr>
        <p:txBody>
          <a:bodyPr wrap="square">
            <a:spAutoFit/>
          </a:bodyPr>
          <a:lstStyle/>
          <a:p>
            <a:pPr algn="l"/>
            <a:r>
              <a:rPr sz="750" b="0">
                <a:solidFill>
                  <a:srgbClr val="505050"/>
                </a:solidFill>
                <a:latin typeface="Yu Gothic UI"/>
              </a:rPr>
              <a:t>（個体別レポート作成）</a:t>
            </a:r>
          </a:p>
        </p:txBody>
      </p:sp>
      <p:sp>
        <p:nvSpPr>
          <p:cNvPr id="67" name="Rectangle 66"/>
          <p:cNvSpPr/>
          <p:nvPr/>
        </p:nvSpPr>
        <p:spPr>
          <a:xfrm>
            <a:off x="288000" y="8803776"/>
            <a:ext cx="6984000" cy="108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88000" y="8911776"/>
            <a:ext cx="6984000" cy="180000"/>
          </a:xfrm>
          <a:prstGeom prst="rect">
            <a:avLst/>
          </a:prstGeom>
          <a:noFill/>
        </p:spPr>
        <p:txBody>
          <a:bodyPr wrap="square">
            <a:spAutoFit/>
          </a:bodyPr>
          <a:lstStyle/>
          <a:p>
            <a:pPr algn="l"/>
            <a:endParaRPr/>
          </a:p>
        </p:txBody>
      </p:sp>
      <p:sp>
        <p:nvSpPr>
          <p:cNvPr id="69" name="Rectangle 68"/>
          <p:cNvSpPr/>
          <p:nvPr/>
        </p:nvSpPr>
        <p:spPr>
          <a:xfrm>
            <a:off x="288000" y="8839776"/>
            <a:ext cx="698400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32000" y="8875776"/>
            <a:ext cx="2880000" cy="288000"/>
          </a:xfrm>
          <a:prstGeom prst="rect">
            <a:avLst/>
          </a:prstGeom>
          <a:noFill/>
        </p:spPr>
        <p:txBody>
          <a:bodyPr wrap="square">
            <a:spAutoFit/>
          </a:bodyPr>
          <a:lstStyle/>
          <a:p>
            <a:pPr algn="l"/>
            <a:r>
              <a:rPr sz="1100" b="1">
                <a:solidFill>
                  <a:srgbClr val="1B5C32"/>
                </a:solidFill>
                <a:latin typeface="Yu Gothic UI"/>
              </a:rPr>
              <a:t>合計</a:t>
            </a:r>
          </a:p>
        </p:txBody>
      </p:sp>
      <p:sp>
        <p:nvSpPr>
          <p:cNvPr id="71" name="TextBox 70"/>
          <p:cNvSpPr txBox="1"/>
          <p:nvPr/>
        </p:nvSpPr>
        <p:spPr>
          <a:xfrm>
            <a:off x="3240000" y="8839776"/>
            <a:ext cx="2880000" cy="360000"/>
          </a:xfrm>
          <a:prstGeom prst="rect">
            <a:avLst/>
          </a:prstGeom>
          <a:noFill/>
        </p:spPr>
        <p:txBody>
          <a:bodyPr wrap="square">
            <a:spAutoFit/>
          </a:bodyPr>
          <a:lstStyle/>
          <a:p>
            <a:pPr algn="r"/>
            <a:r>
              <a:rPr sz="1600" b="1">
                <a:solidFill>
                  <a:srgbClr val="B45000"/>
                </a:solidFill>
                <a:latin typeface="Yu Gothic UI"/>
              </a:rPr>
              <a:t>18,750 円</a:t>
            </a:r>
          </a:p>
        </p:txBody>
      </p:sp>
      <p:sp>
        <p:nvSpPr>
          <p:cNvPr id="72" name="TextBox 71"/>
          <p:cNvSpPr txBox="1"/>
          <p:nvPr/>
        </p:nvSpPr>
        <p:spPr>
          <a:xfrm>
            <a:off x="6228000" y="8947776"/>
            <a:ext cx="1080000" cy="252000"/>
          </a:xfrm>
          <a:prstGeom prst="rect">
            <a:avLst/>
          </a:prstGeom>
          <a:noFill/>
        </p:spPr>
        <p:txBody>
          <a:bodyPr wrap="square">
            <a:spAutoFit/>
          </a:bodyPr>
          <a:lstStyle/>
          <a:p>
            <a:pPr algn="l"/>
            <a:r>
              <a:rPr sz="800" b="0">
                <a:solidFill>
                  <a:srgbClr val="505050"/>
                </a:solidFill>
                <a:latin typeface="Yu Gothic UI"/>
              </a:rPr>
              <a:t>（税込）</a:t>
            </a:r>
          </a:p>
        </p:txBody>
      </p:sp>
      <p:sp>
        <p:nvSpPr>
          <p:cNvPr id="73" name="Rectangle 72"/>
          <p:cNvSpPr/>
          <p:nvPr/>
        </p:nvSpPr>
        <p:spPr>
          <a:xfrm>
            <a:off x="0" y="9648000"/>
            <a:ext cx="7560000" cy="1044000"/>
          </a:xfrm>
          <a:prstGeom prst="rect">
            <a:avLst/>
          </a:prstGeom>
          <a:solidFill>
            <a:srgbClr val="1B5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6000" y="10013763"/>
            <a:ext cx="7560000" cy="292388"/>
          </a:xfrm>
          <a:prstGeom prst="rect">
            <a:avLst/>
          </a:prstGeom>
          <a:noFill/>
        </p:spPr>
        <p:txBody>
          <a:bodyPr wrap="square">
            <a:spAutoFit/>
          </a:bodyPr>
          <a:lstStyle/>
          <a:p>
            <a:pPr algn="ctr"/>
            <a:r>
              <a:rPr lang="en-US" altLang="ja-JP" sz="1300" b="1" dirty="0">
                <a:solidFill>
                  <a:srgbClr val="FFFFFF"/>
                </a:solidFill>
                <a:latin typeface="Yu Gothic UI"/>
              </a:rPr>
              <a:t>NOSAI</a:t>
            </a:r>
            <a:r>
              <a:rPr lang="ja-JP" altLang="en-US" sz="1300" b="1" dirty="0">
                <a:solidFill>
                  <a:srgbClr val="FFFFFF"/>
                </a:solidFill>
                <a:latin typeface="Yu Gothic UI"/>
              </a:rPr>
              <a:t>北海道　オホーツク統括センター</a:t>
            </a:r>
            <a:endParaRPr sz="1300" b="1" dirty="0">
              <a:solidFill>
                <a:srgbClr val="FFFFFF"/>
              </a:solidFill>
              <a:latin typeface="Yu Gothic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143</Words>
  <Application>Microsoft Office PowerPoint</Application>
  <PresentationFormat>ユーザー設定</PresentationFormat>
  <Paragraphs>46</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Yu Gothic UI</vt:lpstr>
      <vt:lpstr>Arial</vt:lpstr>
      <vt:lpstr>Calibri</vt:lpstr>
      <vt:lpstr>Office Theme</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SHIGEO OWAKI</cp:lastModifiedBy>
  <cp:revision>1</cp:revision>
  <dcterms:created xsi:type="dcterms:W3CDTF">2013-01-27T09:14:16Z</dcterms:created>
  <dcterms:modified xsi:type="dcterms:W3CDTF">2026-03-16T12:46:18Z</dcterms:modified>
  <cp:category/>
</cp:coreProperties>
</file>